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74" autoAdjust="0"/>
    <p:restoredTop sz="86977" autoAdjust="0"/>
  </p:normalViewPr>
  <p:slideViewPr>
    <p:cSldViewPr snapToGrid="0">
      <p:cViewPr varScale="1">
        <p:scale>
          <a:sx n="96" d="100"/>
          <a:sy n="96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802B6-E78C-4F89-BAF4-D55E7AAC0896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D46BA-6882-4F62-8534-78017F8F77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54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D46BA-6882-4F62-8534-78017F8F775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342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11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12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45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29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32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40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6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31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90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73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80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05688-1091-4382-B67A-C26AB5B6B582}" type="datetimeFigureOut">
              <a:rPr lang="en-GB" smtClean="0"/>
              <a:t>30/01/2018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D6356-B8B0-4D59-8527-7226CC0D0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90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799" y="496076"/>
            <a:ext cx="116786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PUMA manipulator shown in the figure below, assign frames according to the DH method. Then derive the DH </a:t>
            </a:r>
            <a:r>
              <a:rPr lang="en-GB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 and simulate the robot in MATLAB.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mage result for puma robot draw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719" y="2132671"/>
            <a:ext cx="4097445" cy="3785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126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80942"/>
          </a:xfrm>
        </p:spPr>
        <p:txBody>
          <a:bodyPr/>
          <a:lstStyle/>
          <a:p>
            <a:pPr algn="ctr"/>
            <a:r>
              <a:rPr lang="en-US" dirty="0" smtClean="0"/>
              <a:t>Standard (distal) </a:t>
            </a:r>
            <a:r>
              <a:rPr lang="en-US" dirty="0" smtClean="0"/>
              <a:t>DH convention</a:t>
            </a:r>
            <a:endParaRPr lang="en-US" dirty="0"/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>
          <a:xfrm>
            <a:off x="3890147" y="2093640"/>
            <a:ext cx="4248472" cy="16027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sz="2300" dirty="0"/>
              <a:t> a</a:t>
            </a:r>
            <a:r>
              <a:rPr lang="en-GB" sz="2300" baseline="-25000" dirty="0"/>
              <a:t>n</a:t>
            </a:r>
            <a:r>
              <a:rPr lang="en-GB" sz="2300" dirty="0"/>
              <a:t>: distance along </a:t>
            </a:r>
            <a:r>
              <a:rPr lang="en-GB" sz="2300" dirty="0" err="1"/>
              <a:t>x</a:t>
            </a:r>
            <a:r>
              <a:rPr lang="en-GB" sz="2300" baseline="-25000" dirty="0" err="1"/>
              <a:t>n</a:t>
            </a:r>
            <a:r>
              <a:rPr lang="en-GB" sz="2300" dirty="0"/>
              <a:t>, z</a:t>
            </a:r>
            <a:r>
              <a:rPr lang="en-GB" sz="2300" baseline="-25000" dirty="0"/>
              <a:t>n-1</a:t>
            </a:r>
            <a:r>
              <a:rPr lang="en-GB" sz="2300" dirty="0"/>
              <a:t>-&gt;</a:t>
            </a:r>
            <a:r>
              <a:rPr lang="en-GB" sz="2300" dirty="0" err="1"/>
              <a:t>z</a:t>
            </a:r>
            <a:r>
              <a:rPr lang="en-GB" sz="2300" baseline="-25000" dirty="0" err="1"/>
              <a:t>n</a:t>
            </a:r>
            <a:r>
              <a:rPr lang="en-GB" sz="2300" dirty="0"/>
              <a:t> </a:t>
            </a:r>
          </a:p>
          <a:p>
            <a:pPr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sz="2300" dirty="0"/>
              <a:t> </a:t>
            </a:r>
            <a:r>
              <a:rPr lang="el-GR" sz="2300" dirty="0"/>
              <a:t>α</a:t>
            </a:r>
            <a:r>
              <a:rPr lang="en-GB" sz="2300" baseline="-25000" dirty="0"/>
              <a:t>n</a:t>
            </a:r>
            <a:r>
              <a:rPr lang="en-GB" sz="2300" dirty="0"/>
              <a:t>: rotation about </a:t>
            </a:r>
            <a:r>
              <a:rPr lang="en-GB" sz="2300" dirty="0" err="1"/>
              <a:t>x</a:t>
            </a:r>
            <a:r>
              <a:rPr lang="en-GB" sz="2300" baseline="-25000" dirty="0" err="1"/>
              <a:t>n</a:t>
            </a:r>
            <a:r>
              <a:rPr lang="en-GB" sz="2300" dirty="0"/>
              <a:t>, z</a:t>
            </a:r>
            <a:r>
              <a:rPr lang="en-GB" sz="2300" baseline="-25000" dirty="0"/>
              <a:t>n-1</a:t>
            </a:r>
            <a:r>
              <a:rPr lang="en-GB" sz="2300" dirty="0"/>
              <a:t>-&gt;</a:t>
            </a:r>
            <a:r>
              <a:rPr lang="en-GB" sz="2300" dirty="0" err="1"/>
              <a:t>z</a:t>
            </a:r>
            <a:r>
              <a:rPr lang="en-GB" sz="2300" baseline="-25000" dirty="0" err="1"/>
              <a:t>n</a:t>
            </a:r>
            <a:endParaRPr lang="en-GB" sz="2300" dirty="0"/>
          </a:p>
          <a:p>
            <a:pPr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sz="2300" dirty="0"/>
              <a:t> </a:t>
            </a:r>
            <a:r>
              <a:rPr lang="en-GB" sz="2300" dirty="0" err="1"/>
              <a:t>d</a:t>
            </a:r>
            <a:r>
              <a:rPr lang="en-GB" sz="2300" baseline="-25000" dirty="0" err="1"/>
              <a:t>n</a:t>
            </a:r>
            <a:r>
              <a:rPr lang="en-GB" sz="2300" dirty="0"/>
              <a:t>: distance along z</a:t>
            </a:r>
            <a:r>
              <a:rPr lang="en-GB" sz="2300" baseline="-25000" dirty="0"/>
              <a:t>n-1</a:t>
            </a:r>
            <a:r>
              <a:rPr lang="en-GB" sz="2300" dirty="0"/>
              <a:t>,</a:t>
            </a:r>
            <a:r>
              <a:rPr lang="en-GB" sz="2300" baseline="-25000" dirty="0"/>
              <a:t> </a:t>
            </a:r>
            <a:r>
              <a:rPr lang="en-GB" sz="2300" dirty="0"/>
              <a:t>x</a:t>
            </a:r>
            <a:r>
              <a:rPr lang="en-GB" sz="2300" baseline="-25000" dirty="0"/>
              <a:t>n-1</a:t>
            </a:r>
            <a:r>
              <a:rPr lang="en-GB" sz="2300" dirty="0"/>
              <a:t> -&gt; </a:t>
            </a:r>
            <a:r>
              <a:rPr lang="en-GB" sz="2300" dirty="0" err="1"/>
              <a:t>x</a:t>
            </a:r>
            <a:r>
              <a:rPr lang="en-GB" sz="2300" baseline="-25000" dirty="0" err="1"/>
              <a:t>n</a:t>
            </a:r>
            <a:r>
              <a:rPr lang="en-GB" sz="2300" dirty="0"/>
              <a:t> </a:t>
            </a:r>
          </a:p>
          <a:p>
            <a:pPr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GB" sz="2300" dirty="0"/>
              <a:t> </a:t>
            </a:r>
            <a:r>
              <a:rPr lang="el-GR" sz="2300" dirty="0"/>
              <a:t>θ</a:t>
            </a:r>
            <a:r>
              <a:rPr lang="en-GB" sz="2300" baseline="-25000" dirty="0"/>
              <a:t>n</a:t>
            </a:r>
            <a:r>
              <a:rPr lang="en-GB" sz="2300" dirty="0"/>
              <a:t>: rotation about z</a:t>
            </a:r>
            <a:r>
              <a:rPr lang="en-GB" sz="2300" baseline="-25000" dirty="0"/>
              <a:t>n-1</a:t>
            </a:r>
            <a:r>
              <a:rPr lang="en-GB" sz="2300" dirty="0"/>
              <a:t>,</a:t>
            </a:r>
            <a:r>
              <a:rPr lang="en-GB" sz="2300" baseline="-25000" dirty="0"/>
              <a:t> </a:t>
            </a:r>
            <a:r>
              <a:rPr lang="en-GB" sz="2300" dirty="0"/>
              <a:t>x</a:t>
            </a:r>
            <a:r>
              <a:rPr lang="en-GB" sz="2300" baseline="-25000" dirty="0"/>
              <a:t>n-1</a:t>
            </a:r>
            <a:r>
              <a:rPr lang="en-GB" sz="2300" dirty="0"/>
              <a:t> -&gt; </a:t>
            </a:r>
            <a:r>
              <a:rPr lang="en-GB" sz="2300" dirty="0" err="1"/>
              <a:t>x</a:t>
            </a:r>
            <a:r>
              <a:rPr lang="en-GB" sz="2300" baseline="-25000" dirty="0" err="1"/>
              <a:t>n</a:t>
            </a:r>
            <a:r>
              <a:rPr lang="en-GB" sz="2300" dirty="0"/>
              <a:t> </a:t>
            </a:r>
          </a:p>
        </p:txBody>
      </p:sp>
      <p:graphicFrame>
        <p:nvGraphicFramePr>
          <p:cNvPr id="43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731212"/>
              </p:ext>
            </p:extLst>
          </p:nvPr>
        </p:nvGraphicFramePr>
        <p:xfrm>
          <a:off x="4086725" y="3938665"/>
          <a:ext cx="3855316" cy="1036320"/>
        </p:xfrm>
        <a:graphic>
          <a:graphicData uri="http://schemas.openxmlformats.org/drawingml/2006/table">
            <a:tbl>
              <a:tblPr/>
              <a:tblGrid>
                <a:gridCol w="771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2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1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Symbol" charset="2"/>
                        </a:rPr>
                        <a:t>a</a:t>
                      </a:r>
                      <a:r>
                        <a:rPr kumimoji="0" lang="en-GB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cs typeface="Times"/>
                        </a:rPr>
                        <a:t>n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cs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kumimoji="0" lang="en-GB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charset="2"/>
                          <a:cs typeface="Symbol" charset="2"/>
                          <a:sym typeface="Symbol"/>
                        </a:rPr>
                        <a:t></a:t>
                      </a:r>
                      <a:r>
                        <a:rPr kumimoji="0" lang="en-GB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  <a:sym typeface="Symbol"/>
                        </a:rPr>
                        <a:t>n</a:t>
                      </a:r>
                      <a:endParaRPr kumimoji="0" lang="en-US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3642222" y="1442392"/>
            <a:ext cx="4402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Z</a:t>
            </a:r>
            <a:r>
              <a:rPr lang="en-GB" baseline="-25000" dirty="0"/>
              <a:t>n</a:t>
            </a:r>
            <a:r>
              <a:rPr lang="en-GB" dirty="0"/>
              <a:t> axis of n+1</a:t>
            </a:r>
            <a:r>
              <a:rPr lang="en-GB" baseline="30000" dirty="0"/>
              <a:t>th</a:t>
            </a:r>
            <a:r>
              <a:rPr lang="en-GB" dirty="0"/>
              <a:t> joint </a:t>
            </a:r>
          </a:p>
          <a:p>
            <a:pPr algn="ctr"/>
            <a:r>
              <a:rPr lang="en-GB" dirty="0" err="1"/>
              <a:t>X</a:t>
            </a:r>
            <a:r>
              <a:rPr lang="en-GB" baseline="-25000" dirty="0" err="1"/>
              <a:t>n</a:t>
            </a:r>
            <a:r>
              <a:rPr lang="en-GB" dirty="0"/>
              <a:t> is normal to both Z</a:t>
            </a:r>
            <a:r>
              <a:rPr lang="en-GB" baseline="-25000" dirty="0"/>
              <a:t>n-1</a:t>
            </a:r>
            <a:r>
              <a:rPr lang="en-GB" dirty="0"/>
              <a:t> and Z</a:t>
            </a:r>
            <a:r>
              <a:rPr lang="en-GB" baseline="-25000" dirty="0"/>
              <a:t>n</a:t>
            </a:r>
            <a:r>
              <a:rPr lang="en-GB" dirty="0"/>
              <a:t> from n-1 to n</a:t>
            </a:r>
          </a:p>
        </p:txBody>
      </p:sp>
      <p:grpSp>
        <p:nvGrpSpPr>
          <p:cNvPr id="49" name="Group 48"/>
          <p:cNvGrpSpPr>
            <a:grpSpLocks noChangeAspect="1"/>
          </p:cNvGrpSpPr>
          <p:nvPr/>
        </p:nvGrpSpPr>
        <p:grpSpPr>
          <a:xfrm>
            <a:off x="4086725" y="5318523"/>
            <a:ext cx="3639292" cy="909715"/>
            <a:chOff x="5364088" y="-67248"/>
            <a:chExt cx="4021481" cy="1005250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 rotWithShape="1">
            <a:blip r:embed="rId2"/>
            <a:srcRect l="53411"/>
            <a:stretch/>
          </p:blipFill>
          <p:spPr>
            <a:xfrm>
              <a:off x="5868144" y="-67107"/>
              <a:ext cx="3517425" cy="1005109"/>
            </a:xfrm>
            <a:prstGeom prst="rect">
              <a:avLst/>
            </a:prstGeom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 rotWithShape="1">
            <a:blip r:embed="rId2"/>
            <a:srcRect r="90463"/>
            <a:stretch/>
          </p:blipFill>
          <p:spPr>
            <a:xfrm>
              <a:off x="5364088" y="-67248"/>
              <a:ext cx="720080" cy="1005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563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3336" y="121276"/>
            <a:ext cx="4525124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Frames by the standard (distal) DH convention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004567"/>
              </p:ext>
            </p:extLst>
          </p:nvPr>
        </p:nvGraphicFramePr>
        <p:xfrm>
          <a:off x="1020400" y="5177456"/>
          <a:ext cx="2891822" cy="1584960"/>
        </p:xfrm>
        <a:graphic>
          <a:graphicData uri="http://schemas.openxmlformats.org/drawingml/2006/table">
            <a:tbl>
              <a:tblPr/>
              <a:tblGrid>
                <a:gridCol w="453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29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</a:t>
                      </a:r>
                      <a:r>
                        <a:rPr kumimoji="0" lang="en-GB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cs typeface="Times"/>
                        </a:rPr>
                        <a:t>n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cs typeface="Time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kumimoji="0" lang="en-GB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kumimoji="0" lang="en-GB" sz="20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n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1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-90</a:t>
                      </a:r>
                      <a:r>
                        <a:rPr kumimoji="0" lang="en-GB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endParaRPr kumimoji="0" lang="en-US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kumimoji="0" lang="el-GR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kumimoji="0" lang="el-GR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kumimoji="0" lang="el-GR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5BA93878-19C3-4E99-BB8D-2BFC5B3A6DB5}"/>
              </a:ext>
            </a:extLst>
          </p:cNvPr>
          <p:cNvGrpSpPr/>
          <p:nvPr/>
        </p:nvGrpSpPr>
        <p:grpSpPr>
          <a:xfrm>
            <a:off x="712703" y="740296"/>
            <a:ext cx="4639645" cy="4039069"/>
            <a:chOff x="774034" y="1525825"/>
            <a:chExt cx="4639645" cy="4039069"/>
          </a:xfrm>
        </p:grpSpPr>
        <p:pic>
          <p:nvPicPr>
            <p:cNvPr id="8" name="Picture 7" descr="Image result for puma robot drawing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469" y="1619714"/>
              <a:ext cx="4097445" cy="378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Line 8"/>
            <p:cNvSpPr>
              <a:spLocks noChangeShapeType="1"/>
            </p:cNvSpPr>
            <p:nvPr/>
          </p:nvSpPr>
          <p:spPr bwMode="auto">
            <a:xfrm flipV="1">
              <a:off x="2201037" y="4027249"/>
              <a:ext cx="8038" cy="82091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rot="5400000" flipH="1" flipV="1">
              <a:off x="2380848" y="2355285"/>
              <a:ext cx="457417" cy="8290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rot="5400000" flipH="1" flipV="1">
              <a:off x="3875257" y="2718736"/>
              <a:ext cx="457417" cy="8290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sp>
          <p:nvSpPr>
            <p:cNvPr id="27" name="Text Box 10"/>
            <p:cNvSpPr txBox="1">
              <a:spLocks noChangeArrowheads="1"/>
            </p:cNvSpPr>
            <p:nvPr/>
          </p:nvSpPr>
          <p:spPr bwMode="auto">
            <a:xfrm>
              <a:off x="2795307" y="2113218"/>
              <a:ext cx="561454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rgbClr val="FF0000"/>
                  </a:solidFill>
                  <a:latin typeface="Verdana" pitchFamily="34" charset="0"/>
                </a:rPr>
                <a:t>z</a:t>
              </a:r>
              <a:r>
                <a:rPr lang="en-US" sz="2500" baseline="-25000" dirty="0">
                  <a:solidFill>
                    <a:srgbClr val="FF0000"/>
                  </a:solidFill>
                  <a:latin typeface="Verdana" pitchFamily="34" charset="0"/>
                </a:rPr>
                <a:t>1</a:t>
              </a:r>
              <a:endParaRPr lang="en-US" sz="2500" dirty="0">
                <a:solidFill>
                  <a:srgbClr val="FF0000"/>
                </a:solidFill>
              </a:endParaRPr>
            </a:p>
          </p:txBody>
        </p:sp>
        <p:sp>
          <p:nvSpPr>
            <p:cNvPr id="31" name="Line 20"/>
            <p:cNvSpPr>
              <a:spLocks noChangeShapeType="1"/>
            </p:cNvSpPr>
            <p:nvPr/>
          </p:nvSpPr>
          <p:spPr bwMode="auto">
            <a:xfrm rot="5400000" flipH="1" flipV="1">
              <a:off x="4374341" y="3994771"/>
              <a:ext cx="458867" cy="79423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4426936" y="2812560"/>
              <a:ext cx="561454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rgbClr val="FF0000"/>
                  </a:solidFill>
                  <a:latin typeface="Verdana" pitchFamily="34" charset="0"/>
                </a:rPr>
                <a:t>z</a:t>
              </a:r>
              <a:r>
                <a:rPr lang="en-US" sz="2500" baseline="-25000" dirty="0">
                  <a:solidFill>
                    <a:srgbClr val="FF0000"/>
                  </a:solidFill>
                  <a:latin typeface="Verdana" pitchFamily="34" charset="0"/>
                </a:rPr>
                <a:t>2</a:t>
              </a:r>
              <a:endParaRPr lang="en-US" sz="25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4852225" y="4110347"/>
              <a:ext cx="561454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rgbClr val="FF0000"/>
                  </a:solidFill>
                  <a:latin typeface="Verdana" pitchFamily="34" charset="0"/>
                </a:rPr>
                <a:t>z</a:t>
              </a:r>
              <a:r>
                <a:rPr lang="en-US" sz="2500" baseline="-25000" dirty="0">
                  <a:solidFill>
                    <a:srgbClr val="FF0000"/>
                  </a:solidFill>
                  <a:latin typeface="Verdana" pitchFamily="34" charset="0"/>
                </a:rPr>
                <a:t>3</a:t>
              </a:r>
              <a:endParaRPr lang="en-US" sz="250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 Box 10"/>
            <p:cNvSpPr txBox="1">
              <a:spLocks noChangeArrowheads="1"/>
            </p:cNvSpPr>
            <p:nvPr/>
          </p:nvSpPr>
          <p:spPr bwMode="auto">
            <a:xfrm>
              <a:off x="2251353" y="3842481"/>
              <a:ext cx="561454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rgbClr val="FF0000"/>
                  </a:solidFill>
                  <a:latin typeface="Verdana" pitchFamily="34" charset="0"/>
                </a:rPr>
                <a:t>z</a:t>
              </a:r>
              <a:r>
                <a:rPr lang="en-US" sz="2500" baseline="-25000" dirty="0">
                  <a:solidFill>
                    <a:srgbClr val="FF0000"/>
                  </a:solidFill>
                  <a:latin typeface="Verdana" pitchFamily="34" charset="0"/>
                </a:rPr>
                <a:t>0</a:t>
              </a:r>
              <a:endParaRPr lang="en-US" sz="2500" dirty="0">
                <a:solidFill>
                  <a:srgbClr val="FF0000"/>
                </a:solidFill>
              </a:endParaRPr>
            </a:p>
          </p:txBody>
        </p:sp>
        <p:sp>
          <p:nvSpPr>
            <p:cNvPr id="35" name="Line 17"/>
            <p:cNvSpPr>
              <a:spLocks noChangeShapeType="1"/>
            </p:cNvSpPr>
            <p:nvPr/>
          </p:nvSpPr>
          <p:spPr bwMode="auto">
            <a:xfrm>
              <a:off x="2195033" y="2986835"/>
              <a:ext cx="665219" cy="4769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sp>
          <p:nvSpPr>
            <p:cNvPr id="36" name="Text Box 21"/>
            <p:cNvSpPr txBox="1">
              <a:spLocks noChangeArrowheads="1"/>
            </p:cNvSpPr>
            <p:nvPr/>
          </p:nvSpPr>
          <p:spPr bwMode="auto">
            <a:xfrm>
              <a:off x="2365944" y="3198149"/>
              <a:ext cx="562570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chemeClr val="accent1"/>
                  </a:solidFill>
                  <a:latin typeface="Verdana" pitchFamily="34" charset="0"/>
                </a:rPr>
                <a:t>x</a:t>
              </a:r>
              <a:r>
                <a:rPr lang="en-US" sz="2500" baseline="-25000" dirty="0">
                  <a:solidFill>
                    <a:schemeClr val="accent1"/>
                  </a:solidFill>
                  <a:latin typeface="Verdana" pitchFamily="34" charset="0"/>
                </a:rPr>
                <a:t>1</a:t>
              </a:r>
              <a:endParaRPr lang="en-US" sz="2500" dirty="0">
                <a:solidFill>
                  <a:schemeClr val="accent1"/>
                </a:solidFill>
              </a:endParaRPr>
            </a:p>
          </p:txBody>
        </p:sp>
        <p:sp>
          <p:nvSpPr>
            <p:cNvPr id="37" name="Line 17"/>
            <p:cNvSpPr>
              <a:spLocks noChangeShapeType="1"/>
            </p:cNvSpPr>
            <p:nvPr/>
          </p:nvSpPr>
          <p:spPr bwMode="auto">
            <a:xfrm>
              <a:off x="2199471" y="4849378"/>
              <a:ext cx="665219" cy="4769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sp>
          <p:nvSpPr>
            <p:cNvPr id="38" name="Text Box 21"/>
            <p:cNvSpPr txBox="1">
              <a:spLocks noChangeArrowheads="1"/>
            </p:cNvSpPr>
            <p:nvPr/>
          </p:nvSpPr>
          <p:spPr bwMode="auto">
            <a:xfrm>
              <a:off x="2370382" y="5087844"/>
              <a:ext cx="562570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chemeClr val="accent1"/>
                  </a:solidFill>
                  <a:latin typeface="Verdana" pitchFamily="34" charset="0"/>
                </a:rPr>
                <a:t>x</a:t>
              </a:r>
              <a:r>
                <a:rPr lang="en-US" sz="2500" baseline="-25000" dirty="0">
                  <a:solidFill>
                    <a:schemeClr val="accent1"/>
                  </a:solidFill>
                  <a:latin typeface="Verdana" pitchFamily="34" charset="0"/>
                </a:rPr>
                <a:t>0</a:t>
              </a:r>
              <a:endParaRPr lang="en-US" sz="2500" dirty="0">
                <a:solidFill>
                  <a:schemeClr val="accent1"/>
                </a:solidFill>
              </a:endParaRPr>
            </a:p>
          </p:txBody>
        </p:sp>
        <p:sp>
          <p:nvSpPr>
            <p:cNvPr id="40" name="Text Box 21"/>
            <p:cNvSpPr txBox="1">
              <a:spLocks noChangeArrowheads="1"/>
            </p:cNvSpPr>
            <p:nvPr/>
          </p:nvSpPr>
          <p:spPr bwMode="auto">
            <a:xfrm>
              <a:off x="3955741" y="3633297"/>
              <a:ext cx="562570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chemeClr val="accent1"/>
                  </a:solidFill>
                  <a:latin typeface="Verdana" pitchFamily="34" charset="0"/>
                </a:rPr>
                <a:t>x</a:t>
              </a:r>
              <a:r>
                <a:rPr lang="en-US" sz="2500" baseline="-25000" dirty="0">
                  <a:solidFill>
                    <a:schemeClr val="accent1"/>
                  </a:solidFill>
                  <a:latin typeface="Verdana" pitchFamily="34" charset="0"/>
                </a:rPr>
                <a:t>2</a:t>
              </a:r>
              <a:endParaRPr lang="en-US" sz="2500" dirty="0">
                <a:solidFill>
                  <a:schemeClr val="accent1"/>
                </a:solidFill>
              </a:endParaRPr>
            </a:p>
          </p:txBody>
        </p:sp>
        <p:sp>
          <p:nvSpPr>
            <p:cNvPr id="41" name="Line 17"/>
            <p:cNvSpPr>
              <a:spLocks noChangeShapeType="1"/>
            </p:cNvSpPr>
            <p:nvPr/>
          </p:nvSpPr>
          <p:spPr bwMode="auto">
            <a:xfrm>
              <a:off x="4213279" y="4592283"/>
              <a:ext cx="263559" cy="72985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sp>
          <p:nvSpPr>
            <p:cNvPr id="42" name="Text Box 21"/>
            <p:cNvSpPr txBox="1">
              <a:spLocks noChangeArrowheads="1"/>
            </p:cNvSpPr>
            <p:nvPr/>
          </p:nvSpPr>
          <p:spPr bwMode="auto">
            <a:xfrm>
              <a:off x="4435005" y="4945828"/>
              <a:ext cx="562570" cy="47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5" tIns="45718" rIns="91435" bIns="45718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500" dirty="0">
                  <a:solidFill>
                    <a:schemeClr val="accent1"/>
                  </a:solidFill>
                  <a:latin typeface="Verdana" pitchFamily="34" charset="0"/>
                </a:rPr>
                <a:t>x</a:t>
              </a:r>
              <a:r>
                <a:rPr lang="en-US" sz="2500" baseline="-25000" dirty="0">
                  <a:solidFill>
                    <a:schemeClr val="accent1"/>
                  </a:solidFill>
                  <a:latin typeface="Verdana" pitchFamily="34" charset="0"/>
                </a:rPr>
                <a:t>3</a:t>
              </a:r>
              <a:endParaRPr lang="en-US" sz="2500" dirty="0">
                <a:solidFill>
                  <a:schemeClr val="accent1"/>
                </a:solidFill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 rot="16200000">
              <a:off x="2350049" y="4353775"/>
              <a:ext cx="364063" cy="64601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>
                <a:ln>
                  <a:solidFill>
                    <a:srgbClr val="00B050"/>
                  </a:solidFill>
                </a:ln>
              </a:endParaRPr>
            </a:p>
          </p:txBody>
        </p:sp>
        <p:sp>
          <p:nvSpPr>
            <p:cNvPr id="44" name="Line 32"/>
            <p:cNvSpPr>
              <a:spLocks noChangeShapeType="1"/>
            </p:cNvSpPr>
            <p:nvPr/>
          </p:nvSpPr>
          <p:spPr bwMode="auto">
            <a:xfrm rot="16200000" flipH="1">
              <a:off x="1802721" y="3388712"/>
              <a:ext cx="791708" cy="708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>
                <a:ln>
                  <a:solidFill>
                    <a:srgbClr val="00B050"/>
                  </a:solidFill>
                </a:ln>
              </a:endParaRPr>
            </a:p>
          </p:txBody>
        </p:sp>
        <p:sp>
          <p:nvSpPr>
            <p:cNvPr id="45" name="Line 32"/>
            <p:cNvSpPr>
              <a:spLocks noChangeShapeType="1"/>
            </p:cNvSpPr>
            <p:nvPr/>
          </p:nvSpPr>
          <p:spPr bwMode="auto">
            <a:xfrm rot="16200000" flipH="1">
              <a:off x="3301002" y="3739988"/>
              <a:ext cx="791708" cy="708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>
                <a:ln>
                  <a:solidFill>
                    <a:srgbClr val="00B050"/>
                  </a:solidFill>
                </a:ln>
              </a:endParaRPr>
            </a:p>
          </p:txBody>
        </p:sp>
        <p:sp>
          <p:nvSpPr>
            <p:cNvPr id="46" name="Line 32"/>
            <p:cNvSpPr>
              <a:spLocks noChangeShapeType="1"/>
            </p:cNvSpPr>
            <p:nvPr/>
          </p:nvSpPr>
          <p:spPr bwMode="auto">
            <a:xfrm rot="16200000" flipH="1">
              <a:off x="3819674" y="4993448"/>
              <a:ext cx="791708" cy="708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>
                <a:ln>
                  <a:solidFill>
                    <a:srgbClr val="00B050"/>
                  </a:solidFill>
                </a:ln>
              </a:endParaRPr>
            </a:p>
          </p:txBody>
        </p:sp>
        <p:sp>
          <p:nvSpPr>
            <p:cNvPr id="47" name="Line 17"/>
            <p:cNvSpPr>
              <a:spLocks noChangeShapeType="1"/>
            </p:cNvSpPr>
            <p:nvPr/>
          </p:nvSpPr>
          <p:spPr bwMode="auto">
            <a:xfrm>
              <a:off x="3693316" y="3344177"/>
              <a:ext cx="665219" cy="4769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lIns="91435" tIns="45718" rIns="91435" bIns="45718"/>
            <a:lstStyle/>
            <a:p>
              <a:endParaRPr lang="en-US"/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1236988" y="1617970"/>
              <a:ext cx="2467282" cy="1757013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795868" y="2014272"/>
              <a:ext cx="1424990" cy="986240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1130764" y="1639801"/>
              <a:ext cx="106224" cy="10952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808568" y="1899408"/>
              <a:ext cx="152355" cy="13995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774034" y="1525825"/>
              <a:ext cx="5068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accent2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</a:t>
              </a:r>
              <a:r>
                <a:rPr lang="en-GB" sz="2400" baseline="-25000" dirty="0">
                  <a:solidFill>
                    <a:schemeClr val="accent2">
                      <a:lumMod val="7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2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637946" y="4819578"/>
            <a:ext cx="1895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Standard DH table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671" y="341168"/>
            <a:ext cx="6592482" cy="557784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7707289" y="6085161"/>
            <a:ext cx="3440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smtClean="0"/>
              <a:t>Example of simulation in MATLAB</a:t>
            </a:r>
          </a:p>
          <a:p>
            <a:pPr algn="ctr"/>
            <a:r>
              <a:rPr lang="en-GB" dirty="0" smtClean="0"/>
              <a:t>using Peter </a:t>
            </a:r>
            <a:r>
              <a:rPr lang="en-GB" dirty="0" err="1" smtClean="0"/>
              <a:t>Corke’s</a:t>
            </a:r>
            <a:r>
              <a:rPr lang="en-GB" dirty="0" smtClean="0"/>
              <a:t> robotic toolbox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16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037"/>
            <a:ext cx="10515600" cy="1325563"/>
          </a:xfrm>
        </p:spPr>
        <p:txBody>
          <a:bodyPr/>
          <a:lstStyle/>
          <a:p>
            <a:r>
              <a:rPr lang="en-GB" dirty="0" smtClean="0"/>
              <a:t>Example 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3183"/>
            <a:ext cx="10515600" cy="5416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</a:p>
          <a:p>
            <a:pPr marL="0" indent="0">
              <a:buNone/>
            </a:pPr>
            <a:r>
              <a:rPr lang="en-GB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en-GB" sz="10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GB" sz="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L1 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= 1 ;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L2 = 0.7 ;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L3 = 0.7 ;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d2 = 0.5 </a:t>
            </a:r>
            <a:r>
              <a:rPr lang="en-GB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GB" sz="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J1 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= Link(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'd'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L1,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'a'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,0,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'alpha'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,-pi/2); </a:t>
            </a:r>
            <a:r>
              <a:rPr lang="en-GB" sz="1000" dirty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J2 = Link(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'd'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d2,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'a'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,L2,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'alpha'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,0); </a:t>
            </a:r>
            <a:r>
              <a:rPr lang="en-GB" sz="1000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J3 = Link(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'd'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0,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'a'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,L3,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'alpha'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,0); </a:t>
            </a:r>
            <a:r>
              <a:rPr lang="en-GB" sz="1000" dirty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</a:p>
          <a:p>
            <a:pPr marL="0" indent="0">
              <a:buNone/>
            </a:pPr>
            <a:r>
              <a:rPr lang="en-GB" sz="10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en-GB" sz="1000" dirty="0">
                <a:solidFill>
                  <a:srgbClr val="228B22"/>
                </a:solidFill>
                <a:latin typeface="Courier New" panose="02070309020205020404" pitchFamily="49" charset="0"/>
              </a:rPr>
              <a:t>Define the serially connected robot: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PUMA = </a:t>
            </a:r>
            <a:r>
              <a:rPr lang="en-GB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SerialLink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([J1 J2 J3], 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'name'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'PUMA'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000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r>
              <a:rPr lang="en-GB" sz="1000" dirty="0">
                <a:solidFill>
                  <a:srgbClr val="228B22"/>
                </a:solidFill>
                <a:latin typeface="Courier New" panose="02070309020205020404" pitchFamily="49" charset="0"/>
              </a:rPr>
              <a:t>You can now "teach" the robot by changing q1 q2 q3 and see the </a:t>
            </a:r>
            <a:r>
              <a:rPr lang="en-GB" sz="1000" dirty="0" err="1">
                <a:solidFill>
                  <a:srgbClr val="228B22"/>
                </a:solidFill>
                <a:latin typeface="Courier New" panose="02070309020205020404" pitchFamily="49" charset="0"/>
              </a:rPr>
              <a:t>x,y,z</a:t>
            </a:r>
            <a:r>
              <a:rPr lang="en-GB" sz="1000" dirty="0">
                <a:solidFill>
                  <a:srgbClr val="228B22"/>
                </a:solidFill>
                <a:latin typeface="Courier New" panose="02070309020205020404" pitchFamily="49" charset="0"/>
              </a:rPr>
              <a:t> and</a:t>
            </a:r>
          </a:p>
          <a:p>
            <a:pPr marL="0" indent="0">
              <a:buNone/>
            </a:pPr>
            <a:r>
              <a:rPr lang="en-GB" sz="1000" dirty="0">
                <a:solidFill>
                  <a:srgbClr val="228B22"/>
                </a:solidFill>
                <a:latin typeface="Courier New" panose="02070309020205020404" pitchFamily="49" charset="0"/>
              </a:rPr>
              <a:t>%Roll-Pitch-Yaw</a:t>
            </a:r>
          </a:p>
          <a:p>
            <a:pPr marL="0" indent="0">
              <a:buNone/>
            </a:pPr>
            <a:r>
              <a:rPr lang="en-GB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PUMA.plot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([-pi/3,pi/6,pi/6])</a:t>
            </a:r>
          </a:p>
          <a:p>
            <a:pPr marL="0" indent="0">
              <a:buNone/>
            </a:pPr>
            <a:r>
              <a:rPr lang="en-GB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PUMA.teach</a:t>
            </a:r>
            <a:endParaRPr lang="en-GB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5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'x (m)'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'y (m)'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zlabel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sz="1000" dirty="0">
                <a:solidFill>
                  <a:srgbClr val="A020F0"/>
                </a:solidFill>
                <a:latin typeface="Courier New" panose="02070309020205020404" pitchFamily="49" charset="0"/>
              </a:rPr>
              <a:t>'z (m)'</a:t>
            </a:r>
            <a:r>
              <a:rPr lang="en-GB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33153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291</Words>
  <Application>Microsoft Office PowerPoint</Application>
  <PresentationFormat>Widescreen</PresentationFormat>
  <Paragraphs>70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Symbol</vt:lpstr>
      <vt:lpstr>Times</vt:lpstr>
      <vt:lpstr>Times New Roman</vt:lpstr>
      <vt:lpstr>Verdana</vt:lpstr>
      <vt:lpstr>Wingdings</vt:lpstr>
      <vt:lpstr>Office Theme</vt:lpstr>
      <vt:lpstr>PowerPoint Presentation</vt:lpstr>
      <vt:lpstr>Standard (distal) DH convention</vt:lpstr>
      <vt:lpstr>PowerPoint Presentation</vt:lpstr>
      <vt:lpstr>Example code</vt:lpstr>
    </vt:vector>
  </TitlesOfParts>
  <Company>University of the West of England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Antonia Tzemanaki</dc:creator>
  <cp:lastModifiedBy>Antonia Tzemanaki</cp:lastModifiedBy>
  <cp:revision>27</cp:revision>
  <dcterms:created xsi:type="dcterms:W3CDTF">2017-10-19T10:10:39Z</dcterms:created>
  <dcterms:modified xsi:type="dcterms:W3CDTF">2018-01-30T12:28:30Z</dcterms:modified>
</cp:coreProperties>
</file>